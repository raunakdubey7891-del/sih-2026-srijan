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1" r:id="rId2"/>
    <p:sldId id="256" r:id="rId3"/>
    <p:sldId id="258" r:id="rId4"/>
    <p:sldId id="295" r:id="rId5"/>
    <p:sldId id="293" r:id="rId6"/>
    <p:sldId id="29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socialjustice.gov.in/schemes/13" TargetMode="External"/><Relationship Id="rId7" Type="http://schemas.openxmlformats.org/officeDocument/2006/relationships/hyperlink" Target="https://socialjustice.gov.in/schemes/32?utm_source=chatgpt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ocialjustice.gov.in/schemes/99" TargetMode="External"/><Relationship Id="rId5" Type="http://schemas.openxmlformats.org/officeDocument/2006/relationships/hyperlink" Target="https://socialjustice.gov.in/schemes/104" TargetMode="External"/><Relationship Id="rId4" Type="http://schemas.openxmlformats.org/officeDocument/2006/relationships/hyperlink" Target="https://socialjustice.gov.in/schemes/100/archive?utm_source=chatgpt.com" TargetMode="External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447722" cy="3078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SIH26090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AI-Driven Market Linkage and Smart Cataloging App for Marginalized Artisans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Heritage &amp; Culture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P49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Srijan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0FA4E3-2B55-9D01-C465-5DA5349BDE74}"/>
              </a:ext>
            </a:extLst>
          </p:cNvPr>
          <p:cNvSpPr txBox="1"/>
          <p:nvPr/>
        </p:nvSpPr>
        <p:spPr>
          <a:xfrm>
            <a:off x="11509420" y="6492240"/>
            <a:ext cx="115481" cy="37548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lang="en-IN" sz="1100" b="0" i="0" dirty="0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/>
            <a:endParaRPr sz="1100" b="0" i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" name="Picture 2" descr="https://www.sih.gov.in/img1/SIH-Logo.png">
            <a:extLst>
              <a:ext uri="{FF2B5EF4-FFF2-40B4-BE49-F238E27FC236}">
                <a16:creationId xmlns:a16="http://schemas.microsoft.com/office/drawing/2014/main" id="{841D4687-27F5-616B-6713-E8128D987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6767" y="-11511"/>
            <a:ext cx="1338657" cy="680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4EA877-A87C-66DC-A1D8-FF10C2B4BB1F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00A7DC-BEEC-3094-ED87-366692DA2BBF}"/>
              </a:ext>
            </a:extLst>
          </p:cNvPr>
          <p:cNvSpPr txBox="1"/>
          <p:nvPr/>
        </p:nvSpPr>
        <p:spPr>
          <a:xfrm>
            <a:off x="11631168" y="6583680"/>
            <a:ext cx="27432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n-IN" sz="900" b="1" dirty="0">
                <a:solidFill>
                  <a:srgbClr val="FFFFFF"/>
                </a:solidFill>
                <a:latin typeface="Aptos"/>
              </a:rPr>
              <a:t>1</a:t>
            </a:r>
            <a:endParaRPr sz="900" b="1" i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3BAE0CA-66A8-C9F6-EAA8-94BF811E9092}"/>
              </a:ext>
            </a:extLst>
          </p:cNvPr>
          <p:cNvGrpSpPr/>
          <p:nvPr/>
        </p:nvGrpSpPr>
        <p:grpSpPr>
          <a:xfrm>
            <a:off x="91862" y="64373"/>
            <a:ext cx="1207008" cy="585216"/>
            <a:chOff x="146304" y="54864"/>
            <a:chExt cx="1207008" cy="585216"/>
          </a:xfrm>
        </p:grpSpPr>
        <p:sp>
          <p:nvSpPr>
            <p:cNvPr id="3" name="Oval 2"/>
            <p:cNvSpPr/>
            <p:nvPr/>
          </p:nvSpPr>
          <p:spPr>
            <a:xfrm>
              <a:off x="146304" y="54864"/>
              <a:ext cx="1207008" cy="585216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4787C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31393" y="210312"/>
              <a:ext cx="836832" cy="298543"/>
            </a:xfrm>
            <a:prstGeom prst="rect">
              <a:avLst/>
            </a:prstGeom>
            <a:noFill/>
          </p:spPr>
          <p:txBody>
            <a:bodyPr wrap="none" lIns="18288" tIns="18288" rIns="18288" bIns="18288" anchor="t">
              <a:spAutoFit/>
            </a:bodyPr>
            <a:lstStyle/>
            <a:p>
              <a:pPr algn="ctr"/>
              <a:r>
                <a:rPr lang="en-IN" sz="1700" b="1" dirty="0">
                  <a:solidFill>
                    <a:srgbClr val="000000"/>
                  </a:solidFill>
                  <a:latin typeface="Arial"/>
                </a:rPr>
                <a:t>SRIJAN</a:t>
              </a:r>
              <a:endParaRPr sz="1700" b="1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312695" y="210312"/>
            <a:ext cx="9627571" cy="298543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lang="en-US" sz="1700" b="1" i="1" dirty="0">
                <a:solidFill>
                  <a:srgbClr val="000000"/>
                </a:solidFill>
                <a:latin typeface="Arial"/>
              </a:rPr>
              <a:t>AI-Driven Market Linkage and Smart Cataloging Mobile Application for Marginalized Artisans</a:t>
            </a:r>
            <a:endParaRPr sz="1700" b="1" i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91999" cy="22860"/>
          </a:xfrm>
          <a:prstGeom prst="rect">
            <a:avLst/>
          </a:prstGeom>
          <a:solidFill>
            <a:srgbClr val="478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49824" y="749808"/>
            <a:ext cx="18288" cy="1499616"/>
          </a:xfrm>
          <a:prstGeom prst="rect">
            <a:avLst/>
          </a:prstGeom>
          <a:solidFill>
            <a:srgbClr val="478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804672"/>
            <a:ext cx="20116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 dirty="0">
                <a:solidFill>
                  <a:srgbClr val="1D497D"/>
                </a:solidFill>
                <a:latin typeface="Arial"/>
              </a:rPr>
              <a:t>Problem: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0992" y="804672"/>
            <a:ext cx="20116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D497D"/>
                </a:solidFill>
                <a:latin typeface="Arial"/>
              </a:rPr>
              <a:t>Our Idea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143000"/>
            <a:ext cx="5074920" cy="77559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IN" sz="1600" dirty="0"/>
              <a:t>Marginalized artisans depend on </a:t>
            </a:r>
            <a:r>
              <a:rPr lang="en-IN" sz="1600" b="1" dirty="0"/>
              <a:t>seasonal fairs</a:t>
            </a:r>
            <a:r>
              <a:rPr lang="en-IN" sz="1600" dirty="0"/>
              <a:t> for income. Lack of </a:t>
            </a:r>
            <a:r>
              <a:rPr lang="en-IN" sz="1600" b="1" dirty="0"/>
              <a:t>year-round online selling</a:t>
            </a:r>
            <a:r>
              <a:rPr lang="en-IN" sz="1600" dirty="0"/>
              <a:t> and </a:t>
            </a:r>
            <a:r>
              <a:rPr lang="en-IN" sz="1600" b="1" dirty="0"/>
              <a:t>digital skills</a:t>
            </a:r>
            <a:r>
              <a:rPr lang="en-IN" sz="1600" dirty="0"/>
              <a:t> limits their </a:t>
            </a:r>
            <a:r>
              <a:rPr lang="en-IN" sz="1600" b="1" dirty="0"/>
              <a:t>customers, market reach, and earnings</a:t>
            </a:r>
            <a:r>
              <a:rPr lang="en-IN" sz="1600" dirty="0"/>
              <a:t>.</a:t>
            </a:r>
            <a:endParaRPr sz="16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50992" y="1108103"/>
            <a:ext cx="6172200" cy="102181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IN" sz="1600" dirty="0"/>
              <a:t>Our </a:t>
            </a:r>
            <a:r>
              <a:rPr lang="en-IN" sz="1600" b="1" dirty="0"/>
              <a:t>AI-powered mobile app</a:t>
            </a:r>
            <a:r>
              <a:rPr lang="en-IN" sz="1600" dirty="0"/>
              <a:t> turns an artisan’s </a:t>
            </a:r>
            <a:r>
              <a:rPr lang="en-IN" sz="1600" b="1" dirty="0"/>
              <a:t>phone camera into an online shop</a:t>
            </a:r>
            <a:r>
              <a:rPr lang="en-IN" sz="1600" dirty="0"/>
              <a:t>. With just one photo, AI </a:t>
            </a:r>
            <a:r>
              <a:rPr lang="en-IN" sz="1600" b="1" dirty="0"/>
              <a:t>improves the image, creates the product listing, suggests the right price</a:t>
            </a:r>
            <a:r>
              <a:rPr lang="en-IN" sz="1600" dirty="0"/>
              <a:t>, and helps sell products </a:t>
            </a:r>
            <a:r>
              <a:rPr lang="en-IN" sz="1600" b="1" dirty="0"/>
              <a:t>throughout the year</a:t>
            </a:r>
            <a:r>
              <a:rPr lang="en-IN" sz="1600" dirty="0"/>
              <a:t>.</a:t>
            </a:r>
            <a:endParaRPr sz="16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2249424"/>
            <a:ext cx="12191999" cy="13716"/>
          </a:xfrm>
          <a:prstGeom prst="rect">
            <a:avLst/>
          </a:prstGeom>
          <a:solidFill>
            <a:srgbClr val="478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" y="2331720"/>
            <a:ext cx="297180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 dirty="0">
                <a:solidFill>
                  <a:srgbClr val="1D497D"/>
                </a:solidFill>
                <a:latin typeface="Arial"/>
              </a:rPr>
              <a:t>Proposed Solution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3498" y="2304288"/>
            <a:ext cx="347472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 dirty="0">
                <a:solidFill>
                  <a:srgbClr val="1D497D"/>
                </a:solidFill>
                <a:latin typeface="Arial"/>
              </a:rPr>
              <a:t>Innovation/Uniqueness: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37" y="2654009"/>
            <a:ext cx="1828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0" i="0" dirty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8125" y="2674189"/>
            <a:ext cx="5074919" cy="80637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IN" b="1" dirty="0"/>
              <a:t>AI Image Studio:</a:t>
            </a:r>
            <a:r>
              <a:rPr lang="en-IN" dirty="0"/>
              <a:t> </a:t>
            </a:r>
            <a:r>
              <a:rPr lang="en-IN" sz="1600" dirty="0"/>
              <a:t>Automatically </a:t>
            </a:r>
            <a:r>
              <a:rPr lang="en-IN" sz="1600" b="1" dirty="0"/>
              <a:t>removes background clutter, improves lighting, and enhances product photos</a:t>
            </a:r>
            <a:r>
              <a:rPr lang="en-IN" sz="1600" dirty="0"/>
              <a:t> for online selling.</a:t>
            </a:r>
            <a:endParaRPr sz="160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1428" y="3567160"/>
            <a:ext cx="1828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0" i="0" dirty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7653" y="3567793"/>
            <a:ext cx="5055867" cy="80637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IN" b="1" dirty="0"/>
              <a:t>Multilingual Auto-</a:t>
            </a:r>
            <a:r>
              <a:rPr lang="en-IN" b="1" dirty="0" err="1"/>
              <a:t>Cataloger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sz="1600" dirty="0"/>
              <a:t>Artisans can </a:t>
            </a:r>
            <a:r>
              <a:rPr lang="en-IN" sz="1600" b="1" dirty="0"/>
              <a:t>describe products through voice in regional languages</a:t>
            </a:r>
            <a:r>
              <a:rPr lang="en-IN" sz="1600" dirty="0"/>
              <a:t>, while AI creates </a:t>
            </a:r>
            <a:r>
              <a:rPr lang="en-IN" sz="1600" b="1" dirty="0"/>
              <a:t>Hindi and English product descriptions</a:t>
            </a:r>
            <a:r>
              <a:rPr lang="en-IN" sz="1600" dirty="0"/>
              <a:t>.</a:t>
            </a:r>
            <a:endParaRPr sz="160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1862" y="4474799"/>
            <a:ext cx="1828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0" i="0" dirty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7652" y="4473044"/>
            <a:ext cx="5055867" cy="80637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IN" b="1" dirty="0"/>
              <a:t>Dynamic Pricing Assistant:</a:t>
            </a:r>
            <a:r>
              <a:rPr lang="en-IN" dirty="0"/>
              <a:t> </a:t>
            </a:r>
            <a:r>
              <a:rPr lang="en-IN" sz="1600" dirty="0"/>
              <a:t>Suggests a suitable selling price using </a:t>
            </a:r>
            <a:r>
              <a:rPr lang="en-IN" sz="1600" b="1" dirty="0"/>
              <a:t>raw material costs, product information, and current market trends</a:t>
            </a:r>
            <a:r>
              <a:rPr lang="en-IN" sz="1600" dirty="0"/>
              <a:t>.</a:t>
            </a:r>
            <a:endParaRPr sz="160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627" y="5333222"/>
            <a:ext cx="1828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0" i="0" dirty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7" y="5352571"/>
            <a:ext cx="5093971" cy="10525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lvl="0"/>
            <a:r>
              <a:rPr lang="en-IN" b="1" dirty="0"/>
              <a:t>Digital Storefront &amp; Sales Analytics:</a:t>
            </a:r>
            <a:r>
              <a:rPr lang="en-IN" dirty="0"/>
              <a:t> </a:t>
            </a:r>
            <a:r>
              <a:rPr lang="en-IN" sz="1600" dirty="0"/>
              <a:t>Makes products available through a </a:t>
            </a:r>
            <a:r>
              <a:rPr lang="en-IN" sz="1600" b="1" dirty="0"/>
              <a:t>year-round online marketplace</a:t>
            </a:r>
            <a:r>
              <a:rPr lang="en-IN" sz="1600" dirty="0"/>
              <a:t> with a </a:t>
            </a:r>
            <a:r>
              <a:rPr lang="en-IN" sz="1600" b="1" dirty="0"/>
              <a:t>simple dashboard</a:t>
            </a:r>
            <a:r>
              <a:rPr lang="en-IN" sz="1600" dirty="0"/>
              <a:t> showing </a:t>
            </a:r>
            <a:r>
              <a:rPr lang="en-IN" sz="1600" b="1" dirty="0"/>
              <a:t>orders, earnings, and demand trends</a:t>
            </a:r>
            <a:r>
              <a:rPr lang="en-IN" sz="1600" dirty="0"/>
              <a:t>, reducing dependence on </a:t>
            </a:r>
            <a:r>
              <a:rPr lang="en-IN" sz="1600" b="1" dirty="0"/>
              <a:t>physical exhibitions</a:t>
            </a:r>
            <a:r>
              <a:rPr lang="en-IN" sz="1600" dirty="0"/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66576" y="6492240"/>
            <a:ext cx="201168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00" b="0" i="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3A4F5E-9627-E0B0-27FC-C11B5863A8E5}"/>
              </a:ext>
            </a:extLst>
          </p:cNvPr>
          <p:cNvSpPr txBox="1"/>
          <p:nvPr/>
        </p:nvSpPr>
        <p:spPr>
          <a:xfrm>
            <a:off x="5718736" y="2679073"/>
            <a:ext cx="5861094" cy="80637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US" b="1" dirty="0"/>
              <a:t>Voice-First E-Commerce Experience: </a:t>
            </a:r>
            <a:r>
              <a:rPr lang="en-IN" sz="1600" dirty="0"/>
              <a:t>Artisans can create product listings by </a:t>
            </a:r>
            <a:r>
              <a:rPr lang="en-IN" sz="1600" b="1" dirty="0"/>
              <a:t>simply speaking</a:t>
            </a:r>
            <a:r>
              <a:rPr lang="en-IN" sz="1600" dirty="0"/>
              <a:t> instead of </a:t>
            </a:r>
            <a:r>
              <a:rPr lang="en-IN" sz="1600" b="1" dirty="0"/>
              <a:t>typing or manually filling complex e-commerce forms</a:t>
            </a:r>
            <a:r>
              <a:rPr lang="en-IN" sz="1600" dirty="0"/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69AD15-62A3-9F16-07E6-6E9AA440A065}"/>
              </a:ext>
            </a:extLst>
          </p:cNvPr>
          <p:cNvSpPr txBox="1"/>
          <p:nvPr/>
        </p:nvSpPr>
        <p:spPr>
          <a:xfrm>
            <a:off x="5590720" y="2679073"/>
            <a:ext cx="1828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0" i="0" dirty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E11E16-03E4-7F3B-79A1-623C97EF6D30}"/>
              </a:ext>
            </a:extLst>
          </p:cNvPr>
          <p:cNvSpPr txBox="1"/>
          <p:nvPr/>
        </p:nvSpPr>
        <p:spPr>
          <a:xfrm>
            <a:off x="5733498" y="3574512"/>
            <a:ext cx="5861094" cy="80637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US" b="1" dirty="0"/>
              <a:t>Regional Language to Market-Ready Content: </a:t>
            </a:r>
            <a:r>
              <a:rPr lang="en-IN" sz="1600" dirty="0"/>
              <a:t>Transforms </a:t>
            </a:r>
            <a:r>
              <a:rPr lang="en-IN" sz="1600" b="1" dirty="0"/>
              <a:t>regional-language descriptions</a:t>
            </a:r>
            <a:r>
              <a:rPr lang="en-IN" sz="1600" dirty="0"/>
              <a:t> into </a:t>
            </a:r>
            <a:r>
              <a:rPr lang="en-IN" sz="1600" b="1" dirty="0"/>
              <a:t>professional Hindi &amp; English content</a:t>
            </a:r>
            <a:r>
              <a:rPr lang="en-IN" sz="1600" dirty="0"/>
              <a:t>, while preserving the artisan’s </a:t>
            </a:r>
            <a:r>
              <a:rPr lang="en-IN" sz="1600" b="1" dirty="0"/>
              <a:t>unique product story</a:t>
            </a:r>
            <a:r>
              <a:rPr lang="en-IN" sz="1600" dirty="0"/>
              <a:t>.</a:t>
            </a:r>
            <a:endParaRPr lang="en-US" sz="16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51CFE7-E23B-3387-2DA1-A8710EDE5F2B}"/>
              </a:ext>
            </a:extLst>
          </p:cNvPr>
          <p:cNvSpPr txBox="1"/>
          <p:nvPr/>
        </p:nvSpPr>
        <p:spPr>
          <a:xfrm>
            <a:off x="5598718" y="3574512"/>
            <a:ext cx="1828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0" i="0" dirty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AAA98E-5910-6B15-94AF-616A799DB65A}"/>
              </a:ext>
            </a:extLst>
          </p:cNvPr>
          <p:cNvSpPr txBox="1"/>
          <p:nvPr/>
        </p:nvSpPr>
        <p:spPr>
          <a:xfrm>
            <a:off x="5590720" y="4473044"/>
            <a:ext cx="1828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0" i="0" dirty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0CA5D5E-A3BA-314C-CA9C-4CF2F51D03E8}"/>
              </a:ext>
            </a:extLst>
          </p:cNvPr>
          <p:cNvSpPr txBox="1"/>
          <p:nvPr/>
        </p:nvSpPr>
        <p:spPr>
          <a:xfrm>
            <a:off x="5733498" y="4474899"/>
            <a:ext cx="5861094" cy="80637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IN" b="1" dirty="0"/>
              <a:t>Artisan-Centric Design</a:t>
            </a:r>
            <a:r>
              <a:rPr lang="en-US" b="1" dirty="0"/>
              <a:t>: </a:t>
            </a:r>
            <a:r>
              <a:rPr lang="en-IN" sz="1600" dirty="0"/>
              <a:t>Hides complex tasks behind a </a:t>
            </a:r>
            <a:r>
              <a:rPr lang="en-IN" sz="1600" b="1" dirty="0"/>
              <a:t>simple, low-literacy-friendly interface</a:t>
            </a:r>
            <a:r>
              <a:rPr lang="en-IN" sz="1600" dirty="0"/>
              <a:t>, letting artisans focus on </a:t>
            </a:r>
            <a:r>
              <a:rPr lang="en-IN" sz="1600" b="1" dirty="0"/>
              <a:t>their craftsmanship</a:t>
            </a:r>
            <a:r>
              <a:rPr lang="en-IN" sz="1600" dirty="0"/>
              <a:t>.</a:t>
            </a:r>
            <a:endParaRPr lang="en-US" sz="1600" dirty="0"/>
          </a:p>
        </p:txBody>
      </p:sp>
      <p:pic>
        <p:nvPicPr>
          <p:cNvPr id="61" name="Picture 2" descr="https://www.sih.gov.in/img1/SIH-Logo.png">
            <a:extLst>
              <a:ext uri="{FF2B5EF4-FFF2-40B4-BE49-F238E27FC236}">
                <a16:creationId xmlns:a16="http://schemas.microsoft.com/office/drawing/2014/main" id="{A316CFBF-46D6-E672-BD34-964A6560F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6767" y="-11511"/>
            <a:ext cx="1338657" cy="680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215C2F6-B135-C0B4-1FC3-667C8488507C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761F59-7B98-2056-23EA-CF5FB7925C2B}"/>
              </a:ext>
            </a:extLst>
          </p:cNvPr>
          <p:cNvSpPr txBox="1"/>
          <p:nvPr/>
        </p:nvSpPr>
        <p:spPr>
          <a:xfrm>
            <a:off x="11631168" y="6583680"/>
            <a:ext cx="27432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n-IN" sz="900" b="1" dirty="0">
                <a:solidFill>
                  <a:srgbClr val="FFFFFF"/>
                </a:solidFill>
                <a:latin typeface="Aptos"/>
              </a:rPr>
              <a:t>2</a:t>
            </a:r>
            <a:endParaRPr sz="900" b="1" i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5BAD54D-368B-04F4-AED7-4571AB3F006A}"/>
              </a:ext>
            </a:extLst>
          </p:cNvPr>
          <p:cNvGrpSpPr/>
          <p:nvPr/>
        </p:nvGrpSpPr>
        <p:grpSpPr>
          <a:xfrm>
            <a:off x="-15088" y="-11511"/>
            <a:ext cx="12206783" cy="6869511"/>
            <a:chOff x="-15088" y="-11511"/>
            <a:chExt cx="12206783" cy="686951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9CA936E-4FE9-084C-F0C3-C336E40B1177}"/>
                </a:ext>
              </a:extLst>
            </p:cNvPr>
            <p:cNvGrpSpPr/>
            <p:nvPr/>
          </p:nvGrpSpPr>
          <p:grpSpPr>
            <a:xfrm>
              <a:off x="-15088" y="-11511"/>
              <a:ext cx="12206783" cy="6869511"/>
              <a:chOff x="-15088" y="-11511"/>
              <a:chExt cx="12206783" cy="6869511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7CADD4B3-9ACD-4E39-46FA-27061B7F36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393" y="726291"/>
                <a:ext cx="5327905" cy="43434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F6A7AEA4-42EA-958F-0640-AD939D41A180}"/>
                  </a:ext>
                </a:extLst>
              </p:cNvPr>
              <p:cNvGrpSpPr/>
              <p:nvPr/>
            </p:nvGrpSpPr>
            <p:grpSpPr>
              <a:xfrm>
                <a:off x="-15088" y="-11511"/>
                <a:ext cx="12206783" cy="6869511"/>
                <a:chOff x="-15088" y="-11511"/>
                <a:chExt cx="12206783" cy="6869511"/>
              </a:xfrm>
            </p:grpSpPr>
            <p:sp>
              <p:nvSpPr>
                <p:cNvPr id="4" name="TextBox 3"/>
                <p:cNvSpPr txBox="1"/>
                <p:nvPr/>
              </p:nvSpPr>
              <p:spPr>
                <a:xfrm>
                  <a:off x="1481328" y="15252"/>
                  <a:ext cx="8924544" cy="627864"/>
                </a:xfrm>
                <a:prstGeom prst="rect">
                  <a:avLst/>
                </a:prstGeom>
                <a:noFill/>
              </p:spPr>
              <p:txBody>
                <a:bodyPr wrap="square" lIns="36576" tIns="36576" rIns="36576" bIns="36576" anchor="ctr">
                  <a:spAutoFit/>
                </a:bodyPr>
                <a:lstStyle/>
                <a:p>
                  <a:pPr algn="ctr"/>
                  <a:r>
                    <a:rPr sz="3600" b="1" i="0" dirty="0">
                      <a:solidFill>
                        <a:srgbClr val="232323"/>
                      </a:solidFill>
                      <a:latin typeface="Georgia"/>
                    </a:rPr>
                    <a:t>TECHNICAL APPROACH</a:t>
                  </a:r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0" y="6565392"/>
                  <a:ext cx="12191695" cy="292608"/>
                </a:xfrm>
                <a:prstGeom prst="rect">
                  <a:avLst/>
                </a:prstGeom>
                <a:solidFill>
                  <a:srgbClr val="1877BE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" name="TextBox 7"/>
                <p:cNvSpPr txBox="1"/>
                <p:nvPr/>
              </p:nvSpPr>
              <p:spPr>
                <a:xfrm>
                  <a:off x="11631168" y="6583680"/>
                  <a:ext cx="274320" cy="182880"/>
                </a:xfrm>
                <a:prstGeom prst="rect">
                  <a:avLst/>
                </a:prstGeom>
                <a:noFill/>
              </p:spPr>
              <p:txBody>
                <a:bodyPr wrap="square" lIns="36576" tIns="36576" rIns="36576" bIns="36576" anchor="t">
                  <a:spAutoFit/>
                </a:bodyPr>
                <a:lstStyle/>
                <a:p>
                  <a:pPr algn="ctr"/>
                  <a:r>
                    <a:rPr sz="900" b="1" i="0">
                      <a:solidFill>
                        <a:srgbClr val="FFFFFF"/>
                      </a:solidFill>
                      <a:latin typeface="Aptos"/>
                    </a:rPr>
                    <a:t>3</a:t>
                  </a:r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7F672AD4-542C-414B-400B-97625E56B098}"/>
                    </a:ext>
                  </a:extLst>
                </p:cNvPr>
                <p:cNvSpPr/>
                <p:nvPr/>
              </p:nvSpPr>
              <p:spPr>
                <a:xfrm>
                  <a:off x="109728" y="41148"/>
                  <a:ext cx="1207008" cy="585216"/>
                </a:xfrm>
                <a:prstGeom prst="ellipse">
                  <a:avLst/>
                </a:prstGeom>
                <a:solidFill>
                  <a:srgbClr val="FFFFFF"/>
                </a:solidFill>
                <a:ln w="16510">
                  <a:solidFill>
                    <a:srgbClr val="4787C6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593B5F8A-A6F4-EC80-9EF9-14FA0D14DDC3}"/>
                    </a:ext>
                  </a:extLst>
                </p:cNvPr>
                <p:cNvSpPr txBox="1"/>
                <p:nvPr/>
              </p:nvSpPr>
              <p:spPr>
                <a:xfrm>
                  <a:off x="306168" y="191609"/>
                  <a:ext cx="836832" cy="298543"/>
                </a:xfrm>
                <a:prstGeom prst="rect">
                  <a:avLst/>
                </a:prstGeom>
                <a:noFill/>
              </p:spPr>
              <p:txBody>
                <a:bodyPr wrap="none" lIns="18288" tIns="18288" rIns="18288" bIns="18288" anchor="t">
                  <a:spAutoFit/>
                </a:bodyPr>
                <a:lstStyle/>
                <a:p>
                  <a:pPr algn="ctr"/>
                  <a:r>
                    <a:rPr lang="en-IN" sz="1700" b="1" dirty="0">
                      <a:solidFill>
                        <a:srgbClr val="000000"/>
                      </a:solidFill>
                      <a:latin typeface="Arial"/>
                    </a:rPr>
                    <a:t>SRIJAN</a:t>
                  </a:r>
                  <a:endParaRPr sz="1700" b="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pic>
              <p:nvPicPr>
                <p:cNvPr id="81" name="Picture 2" descr="https://www.sih.gov.in/img1/SIH-Logo.png">
                  <a:extLst>
                    <a:ext uri="{FF2B5EF4-FFF2-40B4-BE49-F238E27FC236}">
                      <a16:creationId xmlns:a16="http://schemas.microsoft.com/office/drawing/2014/main" id="{5A1CC2E8-01FB-DD33-D6AC-6EA4E14F92B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816767" y="-11511"/>
                  <a:ext cx="1338657" cy="68042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C929C78D-93E1-B878-AA03-52E979695B38}"/>
                    </a:ext>
                  </a:extLst>
                </p:cNvPr>
                <p:cNvSpPr/>
                <p:nvPr/>
              </p:nvSpPr>
              <p:spPr>
                <a:xfrm>
                  <a:off x="273852" y="861465"/>
                  <a:ext cx="324768" cy="347472"/>
                </a:xfrm>
                <a:prstGeom prst="rect">
                  <a:avLst/>
                </a:prstGeom>
                <a:solidFill>
                  <a:srgbClr val="DEEAF6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6" name="Diamond 95">
                  <a:extLst>
                    <a:ext uri="{FF2B5EF4-FFF2-40B4-BE49-F238E27FC236}">
                      <a16:creationId xmlns:a16="http://schemas.microsoft.com/office/drawing/2014/main" id="{079D590A-2D60-5468-8821-2FE79897FBCB}"/>
                    </a:ext>
                  </a:extLst>
                </p:cNvPr>
                <p:cNvSpPr/>
                <p:nvPr/>
              </p:nvSpPr>
              <p:spPr>
                <a:xfrm>
                  <a:off x="436392" y="894268"/>
                  <a:ext cx="105000" cy="125500"/>
                </a:xfrm>
                <a:prstGeom prst="diamond">
                  <a:avLst/>
                </a:prstGeom>
                <a:solidFill>
                  <a:srgbClr val="19436C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8" name="Diamond 97">
                  <a:extLst>
                    <a:ext uri="{FF2B5EF4-FFF2-40B4-BE49-F238E27FC236}">
                      <a16:creationId xmlns:a16="http://schemas.microsoft.com/office/drawing/2014/main" id="{F55071DD-DC0C-D2B2-AE5D-3E5F43DCA1C4}"/>
                    </a:ext>
                  </a:extLst>
                </p:cNvPr>
                <p:cNvSpPr/>
                <p:nvPr/>
              </p:nvSpPr>
              <p:spPr>
                <a:xfrm>
                  <a:off x="336761" y="1012369"/>
                  <a:ext cx="91440" cy="126824"/>
                </a:xfrm>
                <a:prstGeom prst="diamond">
                  <a:avLst/>
                </a:prstGeom>
                <a:solidFill>
                  <a:srgbClr val="19436C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" name="Rectangle 5"/>
                <p:cNvSpPr/>
                <p:nvPr/>
              </p:nvSpPr>
              <p:spPr>
                <a:xfrm>
                  <a:off x="-15088" y="694287"/>
                  <a:ext cx="12191695" cy="32004"/>
                </a:xfrm>
                <a:prstGeom prst="rect">
                  <a:avLst/>
                </a:prstGeom>
                <a:solidFill>
                  <a:srgbClr val="1E456C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</p:grp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A16E6D7-DE37-5977-8DBF-5692B479B0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73778" y="1139193"/>
                <a:ext cx="6802829" cy="3258554"/>
              </a:xfrm>
              <a:prstGeom prst="rect">
                <a:avLst/>
              </a:prstGeom>
            </p:spPr>
          </p:pic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02EAB0B-F2CA-DC28-035E-0AD2B91CB38E}"/>
                  </a:ext>
                </a:extLst>
              </p:cNvPr>
              <p:cNvSpPr/>
              <p:nvPr/>
            </p:nvSpPr>
            <p:spPr>
              <a:xfrm>
                <a:off x="273852" y="4590288"/>
                <a:ext cx="4179276" cy="34747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2A7250D-9B82-0DBD-52CA-169AB585F2D2}"/>
                  </a:ext>
                </a:extLst>
              </p:cNvPr>
              <p:cNvSpPr/>
              <p:nvPr/>
            </p:nvSpPr>
            <p:spPr>
              <a:xfrm>
                <a:off x="2983992" y="3429000"/>
                <a:ext cx="2231136" cy="3154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97E2B86-E914-31D6-1616-0F95F5B09C21}"/>
                  </a:ext>
                </a:extLst>
              </p:cNvPr>
              <p:cNvSpPr/>
              <p:nvPr/>
            </p:nvSpPr>
            <p:spPr>
              <a:xfrm>
                <a:off x="273851" y="3674724"/>
                <a:ext cx="717343" cy="2632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F10FE5B-02ED-7FE3-DDFA-1114B7EB9C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51" y="3731121"/>
                <a:ext cx="4981085" cy="817649"/>
              </a:xfrm>
              <a:prstGeom prst="rect">
                <a:avLst/>
              </a:prstGeom>
            </p:spPr>
          </p:pic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C476D9-E0F5-E3D0-55B4-64A22E84D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432" t="18385" r="2174" b="19285"/>
            <a:stretch>
              <a:fillRect/>
            </a:stretch>
          </p:blipFill>
          <p:spPr>
            <a:xfrm>
              <a:off x="1481328" y="4389120"/>
              <a:ext cx="9011592" cy="19626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016C9-65B6-706E-25AA-8C46C2DF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8B9FFFD-BF7B-F4A1-C294-92F4226E550B}"/>
              </a:ext>
            </a:extLst>
          </p:cNvPr>
          <p:cNvGrpSpPr/>
          <p:nvPr/>
        </p:nvGrpSpPr>
        <p:grpSpPr>
          <a:xfrm>
            <a:off x="-15088" y="-11511"/>
            <a:ext cx="12207088" cy="6869511"/>
            <a:chOff x="-15088" y="-11511"/>
            <a:chExt cx="12207088" cy="6869511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15A530B4-B159-1146-A9E0-05081BA87D94}"/>
                </a:ext>
              </a:extLst>
            </p:cNvPr>
            <p:cNvGrpSpPr/>
            <p:nvPr/>
          </p:nvGrpSpPr>
          <p:grpSpPr>
            <a:xfrm>
              <a:off x="-15088" y="-11511"/>
              <a:ext cx="12206783" cy="6869511"/>
              <a:chOff x="-15088" y="-11511"/>
              <a:chExt cx="12206783" cy="686951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C8EF00-C0C0-3695-1D36-D4B6FA4FE7D9}"/>
                  </a:ext>
                </a:extLst>
              </p:cNvPr>
              <p:cNvSpPr txBox="1"/>
              <p:nvPr/>
            </p:nvSpPr>
            <p:spPr>
              <a:xfrm>
                <a:off x="1481328" y="15252"/>
                <a:ext cx="8924544" cy="627864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ctr">
                <a:spAutoFit/>
              </a:bodyPr>
              <a:lstStyle/>
              <a:p>
                <a:pPr algn="ctr"/>
                <a:r>
                  <a:rPr lang="en-IN" sz="3600" b="1" i="0" dirty="0">
                    <a:solidFill>
                      <a:srgbClr val="232323"/>
                    </a:solidFill>
                    <a:latin typeface="Georgia"/>
                  </a:rPr>
                  <a:t>FEASIBILITY AND VIABILITY</a:t>
                </a:r>
                <a:endParaRPr sz="3600" b="1" i="0" dirty="0">
                  <a:solidFill>
                    <a:srgbClr val="232323"/>
                  </a:solidFill>
                  <a:latin typeface="Georgia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257A955-2B10-FF06-A999-80DFDD195368}"/>
                  </a:ext>
                </a:extLst>
              </p:cNvPr>
              <p:cNvSpPr/>
              <p:nvPr/>
            </p:nvSpPr>
            <p:spPr>
              <a:xfrm>
                <a:off x="-15088" y="694287"/>
                <a:ext cx="12191695" cy="32004"/>
              </a:xfrm>
              <a:prstGeom prst="rect">
                <a:avLst/>
              </a:prstGeom>
              <a:solidFill>
                <a:srgbClr val="1E456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17C176B-9650-E4D1-3E60-F16DA7B15DD4}"/>
                  </a:ext>
                </a:extLst>
              </p:cNvPr>
              <p:cNvSpPr/>
              <p:nvPr/>
            </p:nvSpPr>
            <p:spPr>
              <a:xfrm>
                <a:off x="0" y="6565392"/>
                <a:ext cx="12191695" cy="292608"/>
              </a:xfrm>
              <a:prstGeom prst="rect">
                <a:avLst/>
              </a:prstGeom>
              <a:solidFill>
                <a:srgbClr val="1877B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776355-DBD3-40C5-0F8F-BA41F5429C0B}"/>
                  </a:ext>
                </a:extLst>
              </p:cNvPr>
              <p:cNvSpPr txBox="1"/>
              <p:nvPr/>
            </p:nvSpPr>
            <p:spPr>
              <a:xfrm>
                <a:off x="11631168" y="6583680"/>
                <a:ext cx="274320" cy="212366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t">
                <a:spAutoFit/>
              </a:bodyPr>
              <a:lstStyle/>
              <a:p>
                <a:pPr algn="ctr"/>
                <a:r>
                  <a:rPr lang="en-IN" sz="900" b="1" dirty="0">
                    <a:solidFill>
                      <a:srgbClr val="FFFFFF"/>
                    </a:solidFill>
                    <a:latin typeface="Aptos"/>
                  </a:rPr>
                  <a:t>4</a:t>
                </a:r>
                <a:endParaRPr sz="900" b="1" i="0" dirty="0">
                  <a:solidFill>
                    <a:srgbClr val="FFFFFF"/>
                  </a:solidFill>
                  <a:latin typeface="Aptos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C5391C75-A4B5-3AAC-63F5-87E0144909A8}"/>
                  </a:ext>
                </a:extLst>
              </p:cNvPr>
              <p:cNvSpPr/>
              <p:nvPr/>
            </p:nvSpPr>
            <p:spPr>
              <a:xfrm>
                <a:off x="109728" y="41148"/>
                <a:ext cx="1207008" cy="585216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4787C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E30F01B-B589-2DC6-DCFF-1EE5FB08D16D}"/>
                  </a:ext>
                </a:extLst>
              </p:cNvPr>
              <p:cNvSpPr txBox="1"/>
              <p:nvPr/>
            </p:nvSpPr>
            <p:spPr>
              <a:xfrm>
                <a:off x="306168" y="191609"/>
                <a:ext cx="836832" cy="298543"/>
              </a:xfrm>
              <a:prstGeom prst="rect">
                <a:avLst/>
              </a:prstGeom>
              <a:noFill/>
            </p:spPr>
            <p:txBody>
              <a:bodyPr wrap="none" lIns="18288" tIns="18288" rIns="18288" bIns="18288" anchor="t">
                <a:spAutoFit/>
              </a:bodyPr>
              <a:lstStyle/>
              <a:p>
                <a:pPr algn="ctr"/>
                <a:r>
                  <a:rPr lang="en-IN" sz="1700" b="1" dirty="0">
                    <a:solidFill>
                      <a:srgbClr val="000000"/>
                    </a:solidFill>
                    <a:latin typeface="Arial"/>
                  </a:rPr>
                  <a:t>SRIJAN</a:t>
                </a:r>
                <a:endParaRPr sz="1700" b="1" dirty="0">
                  <a:solidFill>
                    <a:srgbClr val="000000"/>
                  </a:solidFill>
                  <a:latin typeface="Arial"/>
                </a:endParaRPr>
              </a:p>
            </p:txBody>
          </p:sp>
          <p:pic>
            <p:nvPicPr>
              <p:cNvPr id="81" name="Picture 2" descr="https://www.sih.gov.in/img1/SIH-Logo.png">
                <a:extLst>
                  <a:ext uri="{FF2B5EF4-FFF2-40B4-BE49-F238E27FC236}">
                    <a16:creationId xmlns:a16="http://schemas.microsoft.com/office/drawing/2014/main" id="{83F159B5-D887-15C0-5B71-B8FF96D9F2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816767" y="-11511"/>
                <a:ext cx="1338657" cy="6804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659990-6088-AE96-079F-12D06F3BB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267" y="987223"/>
              <a:ext cx="4057333" cy="340614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209EE82-0573-5167-8045-B3087086E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09600" y="987223"/>
              <a:ext cx="4107509" cy="337413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D7E8E13-CCE0-159A-2C9C-D3557FD9F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17109" y="987223"/>
              <a:ext cx="3938315" cy="337413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464FFB4-D682-3757-E2CB-D40F25084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21291" b="22643"/>
            <a:stretch>
              <a:fillRect/>
            </a:stretch>
          </p:blipFill>
          <p:spPr>
            <a:xfrm>
              <a:off x="649224" y="4654295"/>
              <a:ext cx="10835640" cy="191109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F4CCA10-A408-4CD4-D255-9480FCAA7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744579"/>
              <a:ext cx="12192000" cy="3918861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CF2DCD3-4EE7-F985-31D4-D6349A7D587E}"/>
              </a:ext>
            </a:extLst>
          </p:cNvPr>
          <p:cNvGrpSpPr/>
          <p:nvPr/>
        </p:nvGrpSpPr>
        <p:grpSpPr>
          <a:xfrm>
            <a:off x="18288" y="736710"/>
            <a:ext cx="12121445" cy="3969035"/>
            <a:chOff x="-15088" y="736710"/>
            <a:chExt cx="12207088" cy="396903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C229C9A-ED5E-89B5-94DD-0B34BAC27853}"/>
                </a:ext>
              </a:extLst>
            </p:cNvPr>
            <p:cNvSpPr/>
            <p:nvPr/>
          </p:nvSpPr>
          <p:spPr>
            <a:xfrm>
              <a:off x="-15088" y="744579"/>
              <a:ext cx="12207088" cy="39097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6B84B8A-E53E-B7AC-DE80-3DD3990F5342}"/>
                </a:ext>
              </a:extLst>
            </p:cNvPr>
            <p:cNvSpPr txBox="1"/>
            <p:nvPr/>
          </p:nvSpPr>
          <p:spPr>
            <a:xfrm>
              <a:off x="113370" y="736710"/>
              <a:ext cx="3666744" cy="3969035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b="1" dirty="0"/>
                <a:t>1. Feasibility</a:t>
              </a:r>
            </a:p>
            <a:p>
              <a:pPr>
                <a:lnSpc>
                  <a:spcPct val="150000"/>
                </a:lnSpc>
              </a:pPr>
              <a:r>
                <a:rPr lang="en-IN" b="1" dirty="0"/>
                <a:t>➤ Technical Feasibility</a:t>
              </a:r>
            </a:p>
            <a:p>
              <a:pPr>
                <a:lnSpc>
                  <a:spcPct val="150000"/>
                </a:lnSpc>
              </a:pPr>
              <a:r>
                <a:rPr lang="en-IN" sz="1600" dirty="0"/>
                <a:t>• Uses </a:t>
              </a:r>
              <a:r>
                <a:rPr lang="en-IN" sz="1600" dirty="0" err="1"/>
                <a:t>Cloudinary</a:t>
              </a:r>
              <a:r>
                <a:rPr lang="en-IN" sz="1600" dirty="0"/>
                <a:t> for image processing.</a:t>
              </a:r>
              <a:br>
                <a:rPr lang="en-IN" sz="1600" dirty="0"/>
              </a:br>
              <a:r>
                <a:rPr lang="en-IN" sz="1600" dirty="0"/>
                <a:t>• Uses Whisper and AI models for content generation.</a:t>
              </a:r>
            </a:p>
            <a:p>
              <a:r>
                <a:rPr lang="en-IN" b="1" dirty="0"/>
                <a:t>➤ Operational Feasibility</a:t>
              </a:r>
            </a:p>
            <a:p>
              <a:pPr>
                <a:lnSpc>
                  <a:spcPct val="150000"/>
                </a:lnSpc>
              </a:pPr>
              <a:r>
                <a:rPr lang="en-IN" sz="1600" dirty="0"/>
                <a:t>• Simplifies product listing creation.</a:t>
              </a:r>
              <a:br>
                <a:rPr lang="en-IN" sz="1600" dirty="0"/>
              </a:br>
              <a:r>
                <a:rPr lang="en-IN" sz="1600" dirty="0"/>
                <a:t>• Reduces manual work for artisans.</a:t>
              </a:r>
            </a:p>
            <a:p>
              <a:r>
                <a:rPr lang="en-IN" b="1" dirty="0"/>
                <a:t>➤ Financial Feasibility</a:t>
              </a:r>
            </a:p>
            <a:p>
              <a:pPr>
                <a:lnSpc>
                  <a:spcPct val="150000"/>
                </a:lnSpc>
              </a:pPr>
              <a:r>
                <a:rPr lang="en-IN" sz="1600" dirty="0"/>
                <a:t>• Uses affordable cloud-based services.</a:t>
              </a:r>
              <a:br>
                <a:rPr lang="en-IN" sz="1600" dirty="0"/>
              </a:br>
              <a:r>
                <a:rPr lang="en-IN" sz="1600" dirty="0"/>
                <a:t>• Reduces listing and processing costs.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B6A6126-9C2F-F276-F05A-1ACEBB427916}"/>
              </a:ext>
            </a:extLst>
          </p:cNvPr>
          <p:cNvSpPr txBox="1"/>
          <p:nvPr/>
        </p:nvSpPr>
        <p:spPr>
          <a:xfrm>
            <a:off x="3932709" y="734160"/>
            <a:ext cx="3772584" cy="336887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2. Potential Challenges &amp; Security Risks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➤ Data Security &amp; Privacy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• Risk of unauthorized data access.</a:t>
            </a:r>
            <a:br>
              <a:rPr lang="en-IN" sz="1600" dirty="0"/>
            </a:br>
            <a:r>
              <a:rPr lang="en-IN" sz="1600" dirty="0"/>
              <a:t>• Privacy concerns with third-party APIs.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➤ Limited Access to Technology</a:t>
            </a:r>
            <a:br>
              <a:rPr lang="en-IN" sz="1600" dirty="0"/>
            </a:br>
            <a:r>
              <a:rPr lang="en-IN" sz="1600" dirty="0"/>
              <a:t>• Limited digital awareness.</a:t>
            </a:r>
          </a:p>
          <a:p>
            <a:r>
              <a:rPr lang="en-IN" b="1" dirty="0"/>
              <a:t>➤ High Traffic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• Server overload during peak seasons.</a:t>
            </a:r>
            <a:br>
              <a:rPr lang="en-IN" sz="1600" dirty="0"/>
            </a:br>
            <a:r>
              <a:rPr lang="en-IN" sz="1600" dirty="0"/>
              <a:t>• Slow AI processing under heavy load.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A31906-826B-2BBA-C873-2B369109E06B}"/>
              </a:ext>
            </a:extLst>
          </p:cNvPr>
          <p:cNvSpPr txBox="1"/>
          <p:nvPr/>
        </p:nvSpPr>
        <p:spPr>
          <a:xfrm>
            <a:off x="7882184" y="733831"/>
            <a:ext cx="3990865" cy="359970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3. Strategies for Overcoming Challenges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➤ Secure System Architecture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• Use encrypted API connections.</a:t>
            </a:r>
            <a:br>
              <a:rPr lang="en-IN" sz="1600" dirty="0"/>
            </a:br>
            <a:r>
              <a:rPr lang="en-IN" sz="1600" dirty="0"/>
              <a:t>• Apply strong user authentication.</a:t>
            </a:r>
          </a:p>
          <a:p>
            <a:r>
              <a:rPr lang="en-IN" b="1" dirty="0"/>
              <a:t>➤ Accessible User Interface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• Provide simple navigation.</a:t>
            </a:r>
            <a:br>
              <a:rPr lang="en-IN" sz="1600" dirty="0"/>
            </a:br>
            <a:r>
              <a:rPr lang="en-IN" sz="1600" dirty="0"/>
              <a:t>• Support regional languages.</a:t>
            </a:r>
          </a:p>
          <a:p>
            <a:r>
              <a:rPr lang="en-IN" b="1" dirty="0"/>
              <a:t>➤ Scalable Infrastructure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• Use cloud auto-scaling.</a:t>
            </a:r>
            <a:br>
              <a:rPr lang="en-IN" sz="1600" dirty="0"/>
            </a:br>
            <a:r>
              <a:rPr lang="en-IN" sz="1600" dirty="0"/>
              <a:t>• Optimize image processing.</a:t>
            </a:r>
          </a:p>
        </p:txBody>
      </p:sp>
    </p:spTree>
    <p:extLst>
      <p:ext uri="{BB962C8B-B14F-4D97-AF65-F5344CB8AC3E}">
        <p14:creationId xmlns:p14="http://schemas.microsoft.com/office/powerpoint/2010/main" val="3033444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05D91-5FE5-AD6D-AC22-77955275B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FBE50F2-42B4-1C60-F48F-8A2F8262CE50}"/>
              </a:ext>
            </a:extLst>
          </p:cNvPr>
          <p:cNvGrpSpPr/>
          <p:nvPr/>
        </p:nvGrpSpPr>
        <p:grpSpPr>
          <a:xfrm>
            <a:off x="-15088" y="-11511"/>
            <a:ext cx="12206783" cy="6869511"/>
            <a:chOff x="-15088" y="-11511"/>
            <a:chExt cx="12206783" cy="686951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E5B3CB2-CE2D-056C-D7AF-C88E5559DBC8}"/>
                </a:ext>
              </a:extLst>
            </p:cNvPr>
            <p:cNvSpPr txBox="1"/>
            <p:nvPr/>
          </p:nvSpPr>
          <p:spPr>
            <a:xfrm>
              <a:off x="1481328" y="15252"/>
              <a:ext cx="8924544" cy="627864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lang="en-IN" sz="3600" b="1" i="0" dirty="0">
                  <a:solidFill>
                    <a:srgbClr val="232323"/>
                  </a:solidFill>
                  <a:latin typeface="Georgia"/>
                </a:rPr>
                <a:t>IMPACT AND BENEFITS</a:t>
              </a:r>
              <a:endParaRPr sz="3600" b="1" i="0" dirty="0">
                <a:solidFill>
                  <a:srgbClr val="232323"/>
                </a:solidFill>
                <a:latin typeface="Georgia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D212C21-E935-89BE-2A19-E9820E58D57F}"/>
                </a:ext>
              </a:extLst>
            </p:cNvPr>
            <p:cNvSpPr/>
            <p:nvPr/>
          </p:nvSpPr>
          <p:spPr>
            <a:xfrm>
              <a:off x="-15088" y="694287"/>
              <a:ext cx="12191695" cy="32004"/>
            </a:xfrm>
            <a:prstGeom prst="rect">
              <a:avLst/>
            </a:prstGeom>
            <a:solidFill>
              <a:srgbClr val="1E45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6552E05-66DF-ACA7-61E8-128B6EC3999B}"/>
                </a:ext>
              </a:extLst>
            </p:cNvPr>
            <p:cNvSpPr/>
            <p:nvPr/>
          </p:nvSpPr>
          <p:spPr>
            <a:xfrm>
              <a:off x="0" y="6565392"/>
              <a:ext cx="12191695" cy="292608"/>
            </a:xfrm>
            <a:prstGeom prst="rect">
              <a:avLst/>
            </a:prstGeom>
            <a:solidFill>
              <a:srgbClr val="1877B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2AAC470-52B1-8285-479A-0F74A53611A1}"/>
                </a:ext>
              </a:extLst>
            </p:cNvPr>
            <p:cNvSpPr txBox="1"/>
            <p:nvPr/>
          </p:nvSpPr>
          <p:spPr>
            <a:xfrm>
              <a:off x="11631168" y="6583680"/>
              <a:ext cx="274320" cy="212366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ctr"/>
              <a:r>
                <a:rPr lang="en-IN" sz="900" b="1" dirty="0">
                  <a:solidFill>
                    <a:srgbClr val="FFFFFF"/>
                  </a:solidFill>
                  <a:latin typeface="Aptos"/>
                </a:rPr>
                <a:t>5</a:t>
              </a:r>
              <a:endParaRPr sz="900" b="1" i="0" dirty="0">
                <a:solidFill>
                  <a:srgbClr val="FFFFFF"/>
                </a:solidFill>
                <a:latin typeface="Aptos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570B554-3DEA-0C25-B309-98340C3FB131}"/>
                </a:ext>
              </a:extLst>
            </p:cNvPr>
            <p:cNvSpPr/>
            <p:nvPr/>
          </p:nvSpPr>
          <p:spPr>
            <a:xfrm>
              <a:off x="109728" y="41148"/>
              <a:ext cx="1207008" cy="585216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4787C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E84AC6A-A0BE-D028-88BB-9E89FE46A16D}"/>
                </a:ext>
              </a:extLst>
            </p:cNvPr>
            <p:cNvSpPr txBox="1"/>
            <p:nvPr/>
          </p:nvSpPr>
          <p:spPr>
            <a:xfrm>
              <a:off x="306168" y="191609"/>
              <a:ext cx="836832" cy="298543"/>
            </a:xfrm>
            <a:prstGeom prst="rect">
              <a:avLst/>
            </a:prstGeom>
            <a:noFill/>
          </p:spPr>
          <p:txBody>
            <a:bodyPr wrap="none" lIns="18288" tIns="18288" rIns="18288" bIns="18288" anchor="t">
              <a:spAutoFit/>
            </a:bodyPr>
            <a:lstStyle/>
            <a:p>
              <a:pPr algn="ctr"/>
              <a:r>
                <a:rPr lang="en-IN" sz="1700" b="1" dirty="0">
                  <a:solidFill>
                    <a:srgbClr val="000000"/>
                  </a:solidFill>
                  <a:latin typeface="Arial"/>
                </a:rPr>
                <a:t>SRIJAN</a:t>
              </a:r>
              <a:endParaRPr sz="1700" b="1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81" name="Picture 2" descr="https://www.sih.gov.in/img1/SIH-Logo.png">
              <a:extLst>
                <a:ext uri="{FF2B5EF4-FFF2-40B4-BE49-F238E27FC236}">
                  <a16:creationId xmlns:a16="http://schemas.microsoft.com/office/drawing/2014/main" id="{F73062E1-5FFA-CF98-8E31-B3AA7869B6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16767" y="-11511"/>
              <a:ext cx="1338657" cy="6804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9B7EA34-D954-C17E-064D-F35E3C64505E}"/>
              </a:ext>
            </a:extLst>
          </p:cNvPr>
          <p:cNvSpPr txBox="1"/>
          <p:nvPr/>
        </p:nvSpPr>
        <p:spPr>
          <a:xfrm>
            <a:off x="109727" y="4163818"/>
            <a:ext cx="6583681" cy="265303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n-IN" dirty="0"/>
          </a:p>
          <a:p>
            <a:r>
              <a:rPr lang="en-IN" sz="1600" dirty="0"/>
              <a:t>➤ Removes the </a:t>
            </a:r>
            <a:r>
              <a:rPr lang="en-IN" sz="1600" b="1" dirty="0"/>
              <a:t>digital skill barrier</a:t>
            </a:r>
            <a:r>
              <a:rPr lang="en-IN" sz="1600" dirty="0"/>
              <a:t> — artisans no longer need photography, writing, or pricing expertise to sell online.</a:t>
            </a:r>
          </a:p>
          <a:p>
            <a:r>
              <a:rPr lang="en-IN" sz="1600" dirty="0"/>
              <a:t>➤ Cuts out middlemen, so a </a:t>
            </a:r>
            <a:r>
              <a:rPr lang="en-IN" sz="1600" b="1" dirty="0"/>
              <a:t>larger share of each sale</a:t>
            </a:r>
            <a:r>
              <a:rPr lang="en-IN" sz="1600" dirty="0"/>
              <a:t> goes directly to the artisan.</a:t>
            </a:r>
          </a:p>
          <a:p>
            <a:r>
              <a:rPr lang="en-IN" sz="1600" dirty="0"/>
              <a:t>➤ </a:t>
            </a:r>
            <a:r>
              <a:rPr lang="en-IN" sz="1600" b="1" dirty="0"/>
              <a:t>Voice-first, multilingual design</a:t>
            </a:r>
            <a:r>
              <a:rPr lang="en-IN" sz="1600" dirty="0"/>
              <a:t> brings e-commerce within reach of artisans with little to no digital literacy.</a:t>
            </a:r>
          </a:p>
          <a:p>
            <a:r>
              <a:rPr lang="en-IN" sz="1600" dirty="0"/>
              <a:t>➤ Strengthens visibility for </a:t>
            </a:r>
            <a:r>
              <a:rPr lang="en-IN" sz="1600" b="1" dirty="0"/>
              <a:t>regional and traditional crafts</a:t>
            </a:r>
            <a:r>
              <a:rPr lang="en-IN" sz="1600" dirty="0"/>
              <a:t>, connecting them to buyers far beyond their local area.</a:t>
            </a:r>
          </a:p>
          <a:p>
            <a:endParaRPr b="1" i="0" dirty="0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1700481-4EE2-6D24-53CC-55EED07B9C66}"/>
              </a:ext>
            </a:extLst>
          </p:cNvPr>
          <p:cNvGrpSpPr/>
          <p:nvPr/>
        </p:nvGrpSpPr>
        <p:grpSpPr>
          <a:xfrm>
            <a:off x="102333" y="4049290"/>
            <a:ext cx="324768" cy="347472"/>
            <a:chOff x="280147" y="852080"/>
            <a:chExt cx="324768" cy="34747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979A372-F1B5-90F5-E42A-A363AD879683}"/>
                </a:ext>
              </a:extLst>
            </p:cNvPr>
            <p:cNvSpPr/>
            <p:nvPr/>
          </p:nvSpPr>
          <p:spPr>
            <a:xfrm>
              <a:off x="280147" y="852080"/>
              <a:ext cx="324768" cy="347472"/>
            </a:xfrm>
            <a:prstGeom prst="rect">
              <a:avLst/>
            </a:prstGeom>
            <a:solidFill>
              <a:srgbClr val="DEEA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9" name="Diamond 18">
              <a:extLst>
                <a:ext uri="{FF2B5EF4-FFF2-40B4-BE49-F238E27FC236}">
                  <a16:creationId xmlns:a16="http://schemas.microsoft.com/office/drawing/2014/main" id="{D9BB9070-00BD-2131-32E7-D5EE4FBB05D4}"/>
                </a:ext>
              </a:extLst>
            </p:cNvPr>
            <p:cNvSpPr/>
            <p:nvPr/>
          </p:nvSpPr>
          <p:spPr>
            <a:xfrm>
              <a:off x="436392" y="894268"/>
              <a:ext cx="105000" cy="125500"/>
            </a:xfrm>
            <a:prstGeom prst="diamond">
              <a:avLst/>
            </a:prstGeom>
            <a:solidFill>
              <a:srgbClr val="1943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Diamond 20">
              <a:extLst>
                <a:ext uri="{FF2B5EF4-FFF2-40B4-BE49-F238E27FC236}">
                  <a16:creationId xmlns:a16="http://schemas.microsoft.com/office/drawing/2014/main" id="{3C7303E8-8756-E1F0-3DBD-FA977F973493}"/>
                </a:ext>
              </a:extLst>
            </p:cNvPr>
            <p:cNvSpPr/>
            <p:nvPr/>
          </p:nvSpPr>
          <p:spPr>
            <a:xfrm>
              <a:off x="336761" y="1012369"/>
              <a:ext cx="91440" cy="126824"/>
            </a:xfrm>
            <a:prstGeom prst="diamond">
              <a:avLst/>
            </a:prstGeom>
            <a:solidFill>
              <a:srgbClr val="1943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DD9733D-8A46-2FCF-06FC-3B0B63E0B5DB}"/>
              </a:ext>
            </a:extLst>
          </p:cNvPr>
          <p:cNvGrpSpPr/>
          <p:nvPr/>
        </p:nvGrpSpPr>
        <p:grpSpPr>
          <a:xfrm>
            <a:off x="6463437" y="804910"/>
            <a:ext cx="324768" cy="347472"/>
            <a:chOff x="273852" y="861465"/>
            <a:chExt cx="324768" cy="34747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9CF45D-3CEF-A5AF-2A8A-18B64FD72A30}"/>
                </a:ext>
              </a:extLst>
            </p:cNvPr>
            <p:cNvSpPr/>
            <p:nvPr/>
          </p:nvSpPr>
          <p:spPr>
            <a:xfrm>
              <a:off x="273852" y="861465"/>
              <a:ext cx="324768" cy="347472"/>
            </a:xfrm>
            <a:prstGeom prst="rect">
              <a:avLst/>
            </a:prstGeom>
            <a:solidFill>
              <a:srgbClr val="DEEA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5" name="Diamond 24">
              <a:extLst>
                <a:ext uri="{FF2B5EF4-FFF2-40B4-BE49-F238E27FC236}">
                  <a16:creationId xmlns:a16="http://schemas.microsoft.com/office/drawing/2014/main" id="{437AB668-BCC8-2269-58A5-4B578500C7DE}"/>
                </a:ext>
              </a:extLst>
            </p:cNvPr>
            <p:cNvSpPr/>
            <p:nvPr/>
          </p:nvSpPr>
          <p:spPr>
            <a:xfrm>
              <a:off x="436392" y="894268"/>
              <a:ext cx="105000" cy="125500"/>
            </a:xfrm>
            <a:prstGeom prst="diamond">
              <a:avLst/>
            </a:prstGeom>
            <a:solidFill>
              <a:srgbClr val="1943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Diamond 25">
              <a:extLst>
                <a:ext uri="{FF2B5EF4-FFF2-40B4-BE49-F238E27FC236}">
                  <a16:creationId xmlns:a16="http://schemas.microsoft.com/office/drawing/2014/main" id="{2E8DC172-662A-5B50-7D36-5989621E34CB}"/>
                </a:ext>
              </a:extLst>
            </p:cNvPr>
            <p:cNvSpPr/>
            <p:nvPr/>
          </p:nvSpPr>
          <p:spPr>
            <a:xfrm>
              <a:off x="336761" y="1012369"/>
              <a:ext cx="91440" cy="126824"/>
            </a:xfrm>
            <a:prstGeom prst="diamond">
              <a:avLst/>
            </a:prstGeom>
            <a:solidFill>
              <a:srgbClr val="1943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5678B06-E19D-A0C4-C227-A07477D8B06B}"/>
              </a:ext>
            </a:extLst>
          </p:cNvPr>
          <p:cNvSpPr txBox="1"/>
          <p:nvPr/>
        </p:nvSpPr>
        <p:spPr>
          <a:xfrm>
            <a:off x="6463437" y="804910"/>
            <a:ext cx="6583681" cy="4062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IN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Of the Solution: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0028FE-BF15-7CB3-66EE-7CD2641B1932}"/>
              </a:ext>
            </a:extLst>
          </p:cNvPr>
          <p:cNvSpPr txBox="1"/>
          <p:nvPr/>
        </p:nvSpPr>
        <p:spPr>
          <a:xfrm>
            <a:off x="6693408" y="1253837"/>
            <a:ext cx="5600619" cy="560768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IN" b="1" dirty="0"/>
              <a:t>Social:</a:t>
            </a:r>
            <a:br>
              <a:rPr lang="en-IN" dirty="0"/>
            </a:br>
            <a:r>
              <a:rPr lang="en-IN" sz="1600" dirty="0"/>
              <a:t>▪ Builds dignity and a connected community for marginalized artisans across regions.</a:t>
            </a:r>
            <a:br>
              <a:rPr lang="en-IN" sz="1600" dirty="0"/>
            </a:br>
            <a:r>
              <a:rPr lang="en-IN" sz="1600" dirty="0"/>
              <a:t>▪ Preserves traditional crafts by giving them a modern digital platform.</a:t>
            </a:r>
          </a:p>
          <a:p>
            <a:r>
              <a:rPr lang="en-IN" b="1" dirty="0"/>
              <a:t>Economical:</a:t>
            </a:r>
            <a:br>
              <a:rPr lang="en-IN" dirty="0"/>
            </a:br>
            <a:r>
              <a:rPr lang="en-IN" sz="1600" dirty="0"/>
              <a:t>▪ Provides year-round income, reducing dependence on seasonal fairs.</a:t>
            </a:r>
            <a:br>
              <a:rPr lang="en-IN" sz="1600" dirty="0"/>
            </a:br>
            <a:r>
              <a:rPr lang="en-IN" sz="1600" dirty="0"/>
              <a:t>▪ Increases earnings by cutting out middlemen for fairer pricing.</a:t>
            </a:r>
          </a:p>
          <a:p>
            <a:r>
              <a:rPr lang="en-IN" b="1" dirty="0"/>
              <a:t>Environmental:</a:t>
            </a:r>
          </a:p>
          <a:p>
            <a:pPr lvl="0"/>
            <a:r>
              <a:rPr lang="en-IN" sz="1600" dirty="0"/>
              <a:t>▪ Reduces carbon footprint by cutting travel to physical fairs/markets through a digital storefront.</a:t>
            </a:r>
          </a:p>
          <a:p>
            <a:pPr lvl="0"/>
            <a:r>
              <a:rPr lang="en-IN" sz="1600" dirty="0"/>
              <a:t>▪ Promotes low-impact production, as traditional crafts use natural, biodegradable materials and low-energy techniques.</a:t>
            </a:r>
            <a:endParaRPr lang="en-IN" sz="1600" b="1" dirty="0"/>
          </a:p>
          <a:p>
            <a:r>
              <a:rPr lang="en-IN" b="1" dirty="0"/>
              <a:t>Learning:</a:t>
            </a:r>
            <a:br>
              <a:rPr lang="en-IN" dirty="0"/>
            </a:br>
            <a:r>
              <a:rPr lang="en-IN" sz="1600" dirty="0"/>
              <a:t>▪ Builds digital and financial literacy through guided, repeated use.</a:t>
            </a:r>
            <a:br>
              <a:rPr lang="en-IN" sz="1600" dirty="0"/>
            </a:br>
            <a:r>
              <a:rPr lang="en-IN" sz="1600" dirty="0"/>
              <a:t>▪ Teaches basic e-commerce skills like </a:t>
            </a:r>
            <a:r>
              <a:rPr lang="en-IN" sz="1600" dirty="0" err="1"/>
              <a:t>cataloging</a:t>
            </a:r>
            <a:r>
              <a:rPr lang="en-IN" sz="1600" dirty="0"/>
              <a:t> and pricing.</a:t>
            </a:r>
          </a:p>
          <a:p>
            <a:r>
              <a:rPr lang="en-IN" b="1" dirty="0"/>
              <a:t>Technological:</a:t>
            </a:r>
            <a:br>
              <a:rPr lang="en-IN" dirty="0"/>
            </a:br>
            <a:r>
              <a:rPr lang="en-IN" sz="1600" dirty="0"/>
              <a:t>▪ Introduces AI-powered tools to first-time digital users.</a:t>
            </a:r>
            <a:br>
              <a:rPr lang="en-IN" sz="1600" dirty="0"/>
            </a:br>
            <a:r>
              <a:rPr lang="en-IN" sz="1600" dirty="0"/>
              <a:t>▪ Encourages comfort with mobile technology and future          innovation.</a:t>
            </a:r>
          </a:p>
          <a:p>
            <a:endParaRPr lang="en-IN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C2DB56-37F6-1B18-E0E8-CEC15DD93DA8}"/>
              </a:ext>
            </a:extLst>
          </p:cNvPr>
          <p:cNvSpPr txBox="1"/>
          <p:nvPr/>
        </p:nvSpPr>
        <p:spPr>
          <a:xfrm>
            <a:off x="420322" y="4058675"/>
            <a:ext cx="4749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Impact On The Target Audience: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541E5D-7A61-5A04-CEAF-375661E37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42079"/>
            <a:ext cx="6163057" cy="328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836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5D712-5000-A956-EBFF-9236DC943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128">
            <a:extLst>
              <a:ext uri="{FF2B5EF4-FFF2-40B4-BE49-F238E27FC236}">
                <a16:creationId xmlns:a16="http://schemas.microsoft.com/office/drawing/2014/main" id="{B5A59180-E1F0-A295-0787-BCDB2634C6A5}"/>
              </a:ext>
            </a:extLst>
          </p:cNvPr>
          <p:cNvGrpSpPr/>
          <p:nvPr/>
        </p:nvGrpSpPr>
        <p:grpSpPr>
          <a:xfrm>
            <a:off x="-15088" y="-11511"/>
            <a:ext cx="12206783" cy="6869511"/>
            <a:chOff x="-15088" y="-11511"/>
            <a:chExt cx="12206783" cy="686951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8405B9F-5D84-A466-B8F4-ADFE9D395141}"/>
                </a:ext>
              </a:extLst>
            </p:cNvPr>
            <p:cNvSpPr txBox="1"/>
            <p:nvPr/>
          </p:nvSpPr>
          <p:spPr>
            <a:xfrm>
              <a:off x="1481328" y="15252"/>
              <a:ext cx="8924544" cy="627864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lang="en-IN" sz="3600" b="1" i="0" dirty="0">
                  <a:solidFill>
                    <a:srgbClr val="232323"/>
                  </a:solidFill>
                  <a:latin typeface="Georgia"/>
                </a:rPr>
                <a:t>RESEARCH AND REFERENCE</a:t>
              </a:r>
              <a:endParaRPr sz="3600" b="1" i="0" dirty="0">
                <a:solidFill>
                  <a:srgbClr val="232323"/>
                </a:solidFill>
                <a:latin typeface="Georgia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ACD88C-795B-5ED5-F5AB-F2D22C88000B}"/>
                </a:ext>
              </a:extLst>
            </p:cNvPr>
            <p:cNvSpPr/>
            <p:nvPr/>
          </p:nvSpPr>
          <p:spPr>
            <a:xfrm>
              <a:off x="-15088" y="694287"/>
              <a:ext cx="12191695" cy="32004"/>
            </a:xfrm>
            <a:prstGeom prst="rect">
              <a:avLst/>
            </a:prstGeom>
            <a:solidFill>
              <a:srgbClr val="1E45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1F0F2D0-0289-D8B4-1E25-4B4D4C02B539}"/>
                </a:ext>
              </a:extLst>
            </p:cNvPr>
            <p:cNvSpPr/>
            <p:nvPr/>
          </p:nvSpPr>
          <p:spPr>
            <a:xfrm>
              <a:off x="0" y="6565392"/>
              <a:ext cx="12191695" cy="292608"/>
            </a:xfrm>
            <a:prstGeom prst="rect">
              <a:avLst/>
            </a:prstGeom>
            <a:solidFill>
              <a:srgbClr val="1877B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25E468D-22D0-312C-D11A-AA3957005921}"/>
                </a:ext>
              </a:extLst>
            </p:cNvPr>
            <p:cNvSpPr txBox="1"/>
            <p:nvPr/>
          </p:nvSpPr>
          <p:spPr>
            <a:xfrm>
              <a:off x="11631168" y="6583680"/>
              <a:ext cx="274320" cy="212366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ctr"/>
              <a:r>
                <a:rPr lang="en-IN" sz="900" b="1" i="0" dirty="0">
                  <a:solidFill>
                    <a:srgbClr val="FFFFFF"/>
                  </a:solidFill>
                  <a:latin typeface="Aptos"/>
                </a:rPr>
                <a:t>6</a:t>
              </a:r>
              <a:endParaRPr sz="900" b="1" i="0" dirty="0">
                <a:solidFill>
                  <a:srgbClr val="FFFFFF"/>
                </a:solidFill>
                <a:latin typeface="Aptos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82B0743-64B0-262A-5B92-CE8635F383F5}"/>
                </a:ext>
              </a:extLst>
            </p:cNvPr>
            <p:cNvSpPr/>
            <p:nvPr/>
          </p:nvSpPr>
          <p:spPr>
            <a:xfrm>
              <a:off x="109728" y="41148"/>
              <a:ext cx="1207008" cy="585216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4787C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6A58A23-317A-B32A-8480-B839A30989A8}"/>
                </a:ext>
              </a:extLst>
            </p:cNvPr>
            <p:cNvSpPr txBox="1"/>
            <p:nvPr/>
          </p:nvSpPr>
          <p:spPr>
            <a:xfrm>
              <a:off x="306168" y="191609"/>
              <a:ext cx="836832" cy="298543"/>
            </a:xfrm>
            <a:prstGeom prst="rect">
              <a:avLst/>
            </a:prstGeom>
            <a:noFill/>
          </p:spPr>
          <p:txBody>
            <a:bodyPr wrap="none" lIns="18288" tIns="18288" rIns="18288" bIns="18288" anchor="t">
              <a:spAutoFit/>
            </a:bodyPr>
            <a:lstStyle/>
            <a:p>
              <a:pPr algn="ctr"/>
              <a:r>
                <a:rPr lang="en-IN" sz="1700" b="1" dirty="0">
                  <a:solidFill>
                    <a:srgbClr val="000000"/>
                  </a:solidFill>
                  <a:latin typeface="Arial"/>
                </a:rPr>
                <a:t>SRIJAN</a:t>
              </a:r>
              <a:endParaRPr sz="1700" b="1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81" name="Picture 2" descr="https://www.sih.gov.in/img1/SIH-Logo.png">
              <a:extLst>
                <a:ext uri="{FF2B5EF4-FFF2-40B4-BE49-F238E27FC236}">
                  <a16:creationId xmlns:a16="http://schemas.microsoft.com/office/drawing/2014/main" id="{97CA68E0-9926-71B7-06C2-E857ACC2E7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16767" y="-11511"/>
              <a:ext cx="1338657" cy="6804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06F2590-AA3E-CAB9-D86C-68D4488F9417}"/>
              </a:ext>
            </a:extLst>
          </p:cNvPr>
          <p:cNvSpPr txBox="1"/>
          <p:nvPr/>
        </p:nvSpPr>
        <p:spPr>
          <a:xfrm>
            <a:off x="51427" y="843688"/>
            <a:ext cx="6583681" cy="4062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IN" sz="24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9D1C3AE-E586-CD55-421B-06CE97AAC62F}"/>
              </a:ext>
            </a:extLst>
          </p:cNvPr>
          <p:cNvGrpSpPr/>
          <p:nvPr/>
        </p:nvGrpSpPr>
        <p:grpSpPr>
          <a:xfrm>
            <a:off x="88003" y="843688"/>
            <a:ext cx="324768" cy="347472"/>
            <a:chOff x="280147" y="852080"/>
            <a:chExt cx="324768" cy="34747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781301-B812-CBA2-CFC9-BF1048E0B496}"/>
                </a:ext>
              </a:extLst>
            </p:cNvPr>
            <p:cNvSpPr/>
            <p:nvPr/>
          </p:nvSpPr>
          <p:spPr>
            <a:xfrm>
              <a:off x="280147" y="852080"/>
              <a:ext cx="324768" cy="347472"/>
            </a:xfrm>
            <a:prstGeom prst="rect">
              <a:avLst/>
            </a:prstGeom>
            <a:solidFill>
              <a:srgbClr val="DEEA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0" name="Diamond 9">
              <a:extLst>
                <a:ext uri="{FF2B5EF4-FFF2-40B4-BE49-F238E27FC236}">
                  <a16:creationId xmlns:a16="http://schemas.microsoft.com/office/drawing/2014/main" id="{E17991E2-4938-92D7-183A-68C5431812BD}"/>
                </a:ext>
              </a:extLst>
            </p:cNvPr>
            <p:cNvSpPr/>
            <p:nvPr/>
          </p:nvSpPr>
          <p:spPr>
            <a:xfrm>
              <a:off x="436392" y="894268"/>
              <a:ext cx="105000" cy="125500"/>
            </a:xfrm>
            <a:prstGeom prst="diamond">
              <a:avLst/>
            </a:prstGeom>
            <a:solidFill>
              <a:srgbClr val="1943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Diamond 10">
              <a:extLst>
                <a:ext uri="{FF2B5EF4-FFF2-40B4-BE49-F238E27FC236}">
                  <a16:creationId xmlns:a16="http://schemas.microsoft.com/office/drawing/2014/main" id="{128BC5E0-A6C8-C7D5-EF3E-00E30CFE9964}"/>
                </a:ext>
              </a:extLst>
            </p:cNvPr>
            <p:cNvSpPr/>
            <p:nvPr/>
          </p:nvSpPr>
          <p:spPr>
            <a:xfrm>
              <a:off x="336761" y="1012369"/>
              <a:ext cx="91440" cy="126824"/>
            </a:xfrm>
            <a:prstGeom prst="diamond">
              <a:avLst/>
            </a:prstGeom>
            <a:solidFill>
              <a:srgbClr val="1943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D655FDF-6825-080E-D97C-0654E1BBD1D9}"/>
              </a:ext>
            </a:extLst>
          </p:cNvPr>
          <p:cNvSpPr txBox="1"/>
          <p:nvPr/>
        </p:nvSpPr>
        <p:spPr>
          <a:xfrm>
            <a:off x="51427" y="1094500"/>
            <a:ext cx="6591872" cy="166814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n-IN" dirty="0"/>
          </a:p>
          <a:p>
            <a:r>
              <a:rPr lang="en-IN" sz="1600" dirty="0"/>
              <a:t>➤ </a:t>
            </a:r>
            <a:r>
              <a:rPr lang="en-IN" sz="1600" dirty="0">
                <a:hlinkClick r:id="rId3"/>
              </a:rPr>
              <a:t>https://socialjustice.gov.in/schemes/13</a:t>
            </a:r>
            <a:endParaRPr lang="en-IN" sz="1600" dirty="0"/>
          </a:p>
          <a:p>
            <a:r>
              <a:rPr lang="en-IN" sz="1600" dirty="0"/>
              <a:t>➤ </a:t>
            </a:r>
            <a:r>
              <a:rPr lang="en-IN" sz="1600" dirty="0">
                <a:hlinkClick r:id="rId4"/>
              </a:rPr>
              <a:t>https://socialjustice.gov.in/schemes/100</a:t>
            </a:r>
            <a:endParaRPr lang="en-IN" sz="1600" dirty="0"/>
          </a:p>
          <a:p>
            <a:r>
              <a:rPr lang="en-IN" sz="1600" dirty="0"/>
              <a:t>➤ </a:t>
            </a:r>
            <a:r>
              <a:rPr lang="en-IN" sz="1600" dirty="0">
                <a:hlinkClick r:id="rId5"/>
              </a:rPr>
              <a:t>https://socialjustice.gov.in/schemes/104</a:t>
            </a:r>
            <a:endParaRPr lang="en-IN" sz="1600" dirty="0"/>
          </a:p>
          <a:p>
            <a:r>
              <a:rPr lang="en-IN" sz="1600" dirty="0"/>
              <a:t>➤ </a:t>
            </a:r>
            <a:r>
              <a:rPr lang="en-IN" sz="1600" dirty="0">
                <a:hlinkClick r:id="rId6"/>
              </a:rPr>
              <a:t>https://socialjustice.gov.in/schemes/99</a:t>
            </a:r>
            <a:endParaRPr lang="en-IN" sz="1600" dirty="0"/>
          </a:p>
          <a:p>
            <a:r>
              <a:rPr lang="en-IN" dirty="0"/>
              <a:t>➤</a:t>
            </a:r>
            <a:r>
              <a:rPr lang="en-IN" sz="1600" dirty="0"/>
              <a:t> </a:t>
            </a:r>
            <a:r>
              <a:rPr lang="en-IN" sz="1600" dirty="0">
                <a:solidFill>
                  <a:srgbClr val="000000"/>
                </a:solidFill>
                <a:hlinkClick r:id="rId7"/>
              </a:rPr>
              <a:t>https://socialjustice.gov.in/schemes/32</a:t>
            </a:r>
            <a:endParaRPr lang="en-IN" dirty="0">
              <a:solidFill>
                <a:srgbClr val="000000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3391325-3FA3-F427-ED30-7F1BB3453A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1470" y="821894"/>
            <a:ext cx="6407040" cy="470108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349964B-B7C0-2A52-1DC6-573148602F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5088" y="4095352"/>
            <a:ext cx="5831470" cy="225846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A81B6B2-CF3C-304B-808E-22BCEC5C8F01}"/>
              </a:ext>
            </a:extLst>
          </p:cNvPr>
          <p:cNvSpPr/>
          <p:nvPr/>
        </p:nvSpPr>
        <p:spPr>
          <a:xfrm>
            <a:off x="5831470" y="4590288"/>
            <a:ext cx="6360530" cy="2834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296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785</Words>
  <Application>Microsoft Office PowerPoint</Application>
  <PresentationFormat>Widescreen</PresentationFormat>
  <Paragraphs>89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Garamond</vt:lpstr>
      <vt:lpstr>Georgia</vt:lpstr>
      <vt:lpstr>Times New Roman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Raunak Dubey</dc:creator>
  <cp:keywords/>
  <dc:description>generated using python-pptx</dc:description>
  <cp:lastModifiedBy>Raunak Dubey</cp:lastModifiedBy>
  <cp:revision>35</cp:revision>
  <dcterms:created xsi:type="dcterms:W3CDTF">2013-01-27T09:14:16Z</dcterms:created>
  <dcterms:modified xsi:type="dcterms:W3CDTF">2026-09-22T15:40:56Z</dcterms:modified>
  <cp:category/>
</cp:coreProperties>
</file>